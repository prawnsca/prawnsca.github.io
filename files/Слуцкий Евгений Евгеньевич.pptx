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embeddedFontLst>
    <p:embeddedFont>
      <p:font typeface="Palatino Linotyp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OOLbHbig6QCNjeLojeXSkPEqY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alatinoLinotype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alatinoLinotype-italic.fntdata"/><Relationship Id="rId14" Type="http://schemas.openxmlformats.org/officeDocument/2006/relationships/font" Target="fonts/PalatinoLinotype-bold.fntdata"/><Relationship Id="rId17" Type="http://customschemas.google.com/relationships/presentationmetadata" Target="metadata"/><Relationship Id="rId16" Type="http://schemas.openxmlformats.org/officeDocument/2006/relationships/font" Target="fonts/PalatinoLinotyp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0" spcFirstLastPara="1" rIns="0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66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66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7" name="Google Shape;17;p9"/>
          <p:cNvSpPr txBox="1"/>
          <p:nvPr>
            <p:ph type="ctrTitle"/>
          </p:nvPr>
        </p:nvSpPr>
        <p:spPr>
          <a:xfrm>
            <a:off x="777240" y="1219200"/>
            <a:ext cx="7543800" cy="2152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alatino Linotype"/>
              <a:buNone/>
              <a:defRPr sz="6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subTitle"/>
          </p:nvPr>
        </p:nvSpPr>
        <p:spPr>
          <a:xfrm>
            <a:off x="2133600" y="3375491"/>
            <a:ext cx="6172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80"/>
              </a:spcBef>
              <a:spcAft>
                <a:spcPts val="0"/>
              </a:spcAft>
              <a:buClr>
                <a:schemeClr val="lt1"/>
              </a:buClr>
              <a:buSzPts val="11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340"/>
              </a:spcBef>
              <a:spcAft>
                <a:spcPts val="0"/>
              </a:spcAft>
              <a:buClr>
                <a:schemeClr val="lt1"/>
              </a:buClr>
              <a:buSzPts val="10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4pPr>
            <a:lvl5pPr indent="-29718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5pPr>
            <a:lvl6pPr indent="-29718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7pPr>
            <a:lvl8pPr indent="-29718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8pPr>
            <a:lvl9pPr indent="-29718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66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4572000" y="4267368"/>
            <a:ext cx="3733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" name="Google Shape;33;p11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type="title"/>
          </p:nvPr>
        </p:nvSpPr>
        <p:spPr>
          <a:xfrm>
            <a:off x="2286000" y="1905000"/>
            <a:ext cx="6035040" cy="23500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alatino Linotype"/>
              <a:buNone/>
              <a:defRPr b="0" sz="5400" cap="non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" type="body"/>
          </p:nvPr>
        </p:nvSpPr>
        <p:spPr>
          <a:xfrm>
            <a:off x="1344168" y="658368"/>
            <a:ext cx="3273552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4pPr>
            <a:lvl5pPr indent="-29718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5pPr>
            <a:lvl6pPr indent="-29718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7pPr>
            <a:lvl8pPr indent="-29718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8pPr>
            <a:lvl9pPr indent="-29718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2" type="body"/>
          </p:nvPr>
        </p:nvSpPr>
        <p:spPr>
          <a:xfrm>
            <a:off x="5029200" y="658368"/>
            <a:ext cx="3273552" cy="3432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4pPr>
            <a:lvl5pPr indent="-29718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5pPr>
            <a:lvl6pPr indent="-29718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7pPr>
            <a:lvl8pPr indent="-29718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8pPr>
            <a:lvl9pPr indent="-29718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1341120" y="661976"/>
            <a:ext cx="327355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1320"/>
              <a:buNone/>
              <a:defRPr b="0" sz="2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1344168" y="1371600"/>
            <a:ext cx="3276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440"/>
              <a:buChar char="🙐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🙒"/>
              <a:defRPr sz="2000"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 sz="1800"/>
            </a:lvl3pPr>
            <a:lvl4pPr indent="-28956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🙑"/>
              <a:defRPr sz="1600"/>
            </a:lvl4pPr>
            <a:lvl5pPr indent="-28956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🙐"/>
              <a:defRPr sz="1600"/>
            </a:lvl5pPr>
            <a:lvl6pPr indent="-28956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🙒"/>
              <a:defRPr sz="1600"/>
            </a:lvl6pPr>
            <a:lvl7pPr indent="-28956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🙓"/>
              <a:defRPr sz="1600"/>
            </a:lvl7pPr>
            <a:lvl8pPr indent="-28956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🙑"/>
              <a:defRPr sz="1600"/>
            </a:lvl8pPr>
            <a:lvl9pPr indent="-28956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🙐"/>
              <a:defRPr sz="1600"/>
            </a:lvl9pPr>
          </a:lstStyle>
          <a:p/>
        </p:txBody>
      </p:sp>
      <p:sp>
        <p:nvSpPr>
          <p:cNvPr id="45" name="Google Shape;45;p13"/>
          <p:cNvSpPr txBox="1"/>
          <p:nvPr>
            <p:ph idx="3" type="body"/>
          </p:nvPr>
        </p:nvSpPr>
        <p:spPr>
          <a:xfrm>
            <a:off x="5029200" y="661976"/>
            <a:ext cx="327355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1320"/>
              <a:buNone/>
              <a:defRPr b="0" sz="2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b="1" sz="1600"/>
            </a:lvl9pPr>
          </a:lstStyle>
          <a:p/>
        </p:txBody>
      </p:sp>
      <p:sp>
        <p:nvSpPr>
          <p:cNvPr id="46" name="Google Shape;46;p13"/>
          <p:cNvSpPr txBox="1"/>
          <p:nvPr>
            <p:ph idx="4" type="body"/>
          </p:nvPr>
        </p:nvSpPr>
        <p:spPr>
          <a:xfrm>
            <a:off x="5029200" y="1371600"/>
            <a:ext cx="3273552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440"/>
              <a:buChar char="🙐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🙒"/>
              <a:defRPr sz="2000"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 sz="1800"/>
            </a:lvl3pPr>
            <a:lvl4pPr indent="-28956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🙑"/>
              <a:defRPr sz="1600"/>
            </a:lvl4pPr>
            <a:lvl5pPr indent="-28956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🙐"/>
              <a:defRPr sz="1600"/>
            </a:lvl5pPr>
            <a:lvl6pPr indent="-28956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🙒"/>
              <a:defRPr sz="1600"/>
            </a:lvl6pPr>
            <a:lvl7pPr indent="-28956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🙓"/>
              <a:defRPr sz="1600"/>
            </a:lvl7pPr>
            <a:lvl8pPr indent="-28956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🙑"/>
              <a:defRPr sz="1600"/>
            </a:lvl8pPr>
            <a:lvl9pPr indent="-28956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Char char="🙐"/>
              <a:defRPr sz="1600"/>
            </a:lvl9pPr>
          </a:lstStyle>
          <a:p/>
        </p:txBody>
      </p:sp>
      <p:sp>
        <p:nvSpPr>
          <p:cNvPr id="47" name="Google Shape;47;p13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60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8" name="Google Shape;48;p13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60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9" name="Google Shape;49;p13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80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8200" y="685801"/>
            <a:ext cx="4343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440"/>
              <a:buChar char="🙐"/>
              <a:defRPr sz="2400"/>
            </a:lvl1pPr>
            <a:lvl2pPr indent="-312420" lvl="1" marL="9144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1320"/>
              <a:buChar char="🙒"/>
              <a:defRPr sz="2200"/>
            </a:lvl2pPr>
            <a:lvl3pPr indent="-3048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🙓"/>
              <a:defRPr sz="2000"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 sz="1800"/>
            </a:lvl4pPr>
            <a:lvl5pPr indent="-29718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 sz="1800"/>
            </a:lvl5pPr>
            <a:lvl6pPr indent="-304800" lvl="5" marL="2743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🙒"/>
              <a:defRPr sz="2000"/>
            </a:lvl6pPr>
            <a:lvl7pPr indent="-304800" lvl="6" marL="3200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🙓"/>
              <a:defRPr sz="2000"/>
            </a:lvl7pPr>
            <a:lvl8pPr indent="-304800" lvl="7" marL="3657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🙑"/>
              <a:defRPr sz="2000"/>
            </a:lvl8pPr>
            <a:lvl9pPr indent="-304800" lvl="8" marL="411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Char char="🙐"/>
              <a:defRPr sz="2000"/>
            </a:lvl9pPr>
          </a:lstStyle>
          <a:p/>
        </p:txBody>
      </p:sp>
      <p:sp>
        <p:nvSpPr>
          <p:cNvPr id="65" name="Google Shape;65;p16"/>
          <p:cNvSpPr txBox="1"/>
          <p:nvPr>
            <p:ph idx="2" type="body"/>
          </p:nvPr>
        </p:nvSpPr>
        <p:spPr>
          <a:xfrm>
            <a:off x="5715000" y="685801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7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9pPr>
          </a:lstStyle>
          <a:p/>
        </p:txBody>
      </p:sp>
      <p:sp>
        <p:nvSpPr>
          <p:cNvPr id="66" name="Google Shape;66;p16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>
            <p:ph idx="2" type="pic"/>
          </p:nvPr>
        </p:nvSpPr>
        <p:spPr>
          <a:xfrm>
            <a:off x="1219200" y="612775"/>
            <a:ext cx="6705600" cy="2546985"/>
          </a:xfrm>
          <a:prstGeom prst="rect">
            <a:avLst/>
          </a:prstGeom>
          <a:noFill/>
          <a:ln>
            <a:noFill/>
          </a:ln>
          <a:effectLst>
            <a:outerShdw blurRad="152400" sx="90000" rotWithShape="0" dir="5400000" dist="317500" sy="-19000">
              <a:srgbClr val="000000">
                <a:alpha val="14901"/>
              </a:srgbClr>
            </a:outerShdw>
          </a:effectLst>
        </p:spPr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2743200" y="3453047"/>
            <a:ext cx="5029200" cy="7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None/>
              <a:defRPr sz="16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7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540"/>
              <a:buNone/>
              <a:defRPr sz="900"/>
            </a:lvl9pPr>
          </a:lstStyle>
          <a:p/>
        </p:txBody>
      </p:sp>
      <p:sp>
        <p:nvSpPr>
          <p:cNvPr id="73" name="Google Shape;73;p17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</a:t>
            </a:r>
            <a:endParaRPr sz="60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74" name="Google Shape;74;p17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3276601" y="-457200"/>
            <a:ext cx="3505199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4pPr>
            <a:lvl5pPr indent="-29718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5pPr>
            <a:lvl6pPr indent="-29718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7pPr>
            <a:lvl8pPr indent="-29718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8pPr>
            <a:lvl9pPr indent="-29718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 rot="5400000">
            <a:off x="-914400" y="2133601"/>
            <a:ext cx="51816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 rot="5400000">
            <a:off x="3124200" y="457201"/>
            <a:ext cx="4572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4pPr>
            <a:lvl5pPr indent="-29718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5pPr>
            <a:lvl6pPr indent="-29718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🙒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🙓"/>
              <a:defRPr/>
            </a:lvl7pPr>
            <a:lvl8pPr indent="-29718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🙑"/>
              <a:defRPr/>
            </a:lvl8pPr>
            <a:lvl9pPr indent="-29718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80"/>
              <a:buChar char="🙐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4F4651">
                  <a:alpha val="36078"/>
                </a:srgbClr>
              </a:gs>
              <a:gs pos="100000">
                <a:srgbClr val="242852">
                  <a:alpha val="10196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7" name="Google Shape;7;p8"/>
          <p:cNvSpPr/>
          <p:nvPr/>
        </p:nvSpPr>
        <p:spPr>
          <a:xfrm rot="-1875725">
            <a:off x="1373221" y="1038440"/>
            <a:ext cx="7240620" cy="5706987"/>
          </a:xfrm>
          <a:prstGeom prst="ellipse">
            <a:avLst/>
          </a:prstGeom>
          <a:gradFill>
            <a:gsLst>
              <a:gs pos="0">
                <a:srgbClr val="C3BCC5">
                  <a:alpha val="7058"/>
                </a:srgbClr>
              </a:gs>
              <a:gs pos="58000">
                <a:srgbClr val="242852">
                  <a:alpha val="0"/>
                </a:srgbClr>
              </a:gs>
              <a:gs pos="100000">
                <a:srgbClr val="24285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8" name="Google Shape;8;p8"/>
          <p:cNvSpPr/>
          <p:nvPr/>
        </p:nvSpPr>
        <p:spPr>
          <a:xfrm rot="-3943090">
            <a:off x="-274211" y="1165875"/>
            <a:ext cx="5538472" cy="4480459"/>
          </a:xfrm>
          <a:prstGeom prst="ellipse">
            <a:avLst/>
          </a:prstGeom>
          <a:gradFill>
            <a:gsLst>
              <a:gs pos="0">
                <a:srgbClr val="C3BCC5">
                  <a:alpha val="7843"/>
                </a:srgbClr>
              </a:gs>
              <a:gs pos="58000">
                <a:srgbClr val="242852">
                  <a:alpha val="0"/>
                </a:srgbClr>
              </a:gs>
              <a:gs pos="100000">
                <a:srgbClr val="24285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9" name="Google Shape;9;p8"/>
          <p:cNvSpPr/>
          <p:nvPr/>
        </p:nvSpPr>
        <p:spPr>
          <a:xfrm rot="-1875725">
            <a:off x="3277955" y="116854"/>
            <a:ext cx="6479362" cy="4754757"/>
          </a:xfrm>
          <a:prstGeom prst="ellipse">
            <a:avLst/>
          </a:prstGeom>
          <a:gradFill>
            <a:gsLst>
              <a:gs pos="0">
                <a:srgbClr val="C3BCC5">
                  <a:alpha val="7843"/>
                </a:srgbClr>
              </a:gs>
              <a:gs pos="58000">
                <a:srgbClr val="242852">
                  <a:alpha val="0"/>
                </a:srgbClr>
              </a:gs>
              <a:gs pos="100000">
                <a:srgbClr val="242852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0" name="Google Shape;10;p8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  <a:defRPr b="0" i="0" sz="49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08610" lvl="0" marL="457200" marR="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Noto Sans Symbols"/>
              <a:buChar char="🙐"/>
              <a:defRPr b="0" i="0" sz="21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-300990" lvl="1" marL="914400" marR="0" rtl="0" algn="l">
              <a:spcBef>
                <a:spcPts val="380"/>
              </a:spcBef>
              <a:spcAft>
                <a:spcPts val="0"/>
              </a:spcAft>
              <a:buClr>
                <a:schemeClr val="lt1"/>
              </a:buClr>
              <a:buSzPts val="1140"/>
              <a:buFont typeface="Noto Sans Symbols"/>
              <a:buChar char="🙒"/>
              <a:defRPr b="0" i="0" sz="19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-293370" lvl="2" marL="1371600" marR="0" rtl="0" algn="l">
              <a:spcBef>
                <a:spcPts val="34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Noto Sans Symbols"/>
              <a:buChar char="🙓"/>
              <a:defRPr b="0" i="0" sz="17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-28956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960"/>
              <a:buFont typeface="Noto Sans Symbols"/>
              <a:buChar char="🙑"/>
              <a:defRPr b="0" i="0" sz="16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-2857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🙐"/>
              <a:defRPr b="0" i="0" sz="15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-28194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🙒"/>
              <a:defRPr b="0" i="0" sz="14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-28194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🙓"/>
              <a:defRPr b="0" i="0" sz="14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-28194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🙑"/>
              <a:defRPr b="0" i="0" sz="14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-28194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840"/>
              <a:buFont typeface="Noto Sans Symbols"/>
              <a:buChar char="🙐"/>
              <a:defRPr b="0" i="0" sz="14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25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777240" y="1219200"/>
            <a:ext cx="7543800" cy="2152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alatino Linotype"/>
              <a:buNone/>
            </a:pPr>
            <a:r>
              <a:rPr lang="ru-RU"/>
              <a:t>Слуцкий Евгений Евгеньевич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2133600" y="3375490"/>
            <a:ext cx="6398840" cy="989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0000"/>
              <a:buNone/>
            </a:pPr>
            <a:r>
              <a:rPr lang="ru-RU"/>
              <a:t>Выполнила: студентка 2 курса группы ИСиП 24-1, «Липецкий металлургический колледж»</a:t>
            </a:r>
            <a:endParaRPr/>
          </a:p>
          <a:p>
            <a:pPr indent="0" lvl="0" marL="0" rtl="0" algn="l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None/>
            </a:pPr>
            <a:r>
              <a:rPr lang="ru-RU"/>
              <a:t>Березцова Валерия Андреевна</a:t>
            </a:r>
            <a:endParaRPr/>
          </a:p>
        </p:txBody>
      </p:sp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2915816" y="692696"/>
            <a:ext cx="5663952" cy="4104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256051" lvl="0" marL="27432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0000"/>
              <a:buChar char="🙐"/>
            </a:pPr>
            <a:r>
              <a:rPr lang="ru-RU"/>
              <a:t>Родился 7 (19) апреля 1880 года в Ярославской губернии. Окончил гимназию с золотой медалью в 1899 году и поступил на физико-математический факультет Киевского университета . Из-за участия в студенческих волнениях был дважды отчислен и даже отбывал воинскую повинность. В 1902–1905 годах продолжил обучение в Мюнхенском политехническом институте, а вернувшись в Россию, окончил юридический факультет Киевского университета в 1911 году (также с золотой медалью).</a:t>
            </a:r>
            <a:endParaRPr/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ru-RU"/>
              <a:t>Ранние годы</a:t>
            </a:r>
            <a:endParaRPr/>
          </a:p>
        </p:txBody>
      </p:sp>
      <p:pic>
        <p:nvPicPr>
          <p:cNvPr descr="https://upload.wikimedia.org/wikipedia/ru/e/e3/%D0%A1%D0%BB%D1%83%D1%86%D0%BA%D0%B8%D0%B9_%D0%95.%D0%95.jpg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052736"/>
            <a:ext cx="2772584" cy="3384376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251520" y="548680"/>
            <a:ext cx="5760640" cy="4032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256051" lvl="0" marL="27432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0000"/>
              <a:buChar char="🙐"/>
            </a:pPr>
            <a:r>
              <a:rPr lang="ru-RU"/>
              <a:t>С 1913 по 1926 год преподавал в Киевском коммерческом институте. В 1926 году переехал в Москву, где работал в Конъюнктурном институте (под руководством Н. Д. Кондратьева), Центральном статистическом управлении, а затем в Институте геофизики и метеорологии . С 1934 года — в МГУ и НИИ математики и механики, а с 1938 года и до конца жизни — в Математическом институте им. В. А. Стеклова АН СССР.</a:t>
            </a:r>
            <a:endParaRPr/>
          </a:p>
          <a:p>
            <a:pPr indent="-256051" lvl="0" marL="274320" rtl="0" algn="just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Char char="🙐"/>
            </a:pPr>
            <a:r>
              <a:rPr lang="ru-RU"/>
              <a:t>Ушел из жизни 10 марта 1948 года в Москве.</a:t>
            </a:r>
            <a:endParaRPr/>
          </a:p>
        </p:txBody>
      </p:sp>
      <p:sp>
        <p:nvSpPr>
          <p:cNvPr id="108" name="Google Shape;108;p3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ru-RU"/>
              <a:t>Научная карьера</a:t>
            </a:r>
            <a:endParaRPr/>
          </a:p>
        </p:txBody>
      </p:sp>
      <p:pic>
        <p:nvPicPr>
          <p:cNvPr descr="Picture background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2676" y="908720"/>
            <a:ext cx="2504787" cy="3586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ru-RU"/>
              <a:t>Уравнение Слуцкого</a:t>
            </a: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692696"/>
            <a:ext cx="6912768" cy="4197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395536" y="260648"/>
            <a:ext cx="4382616" cy="460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256051" lvl="0" marL="27432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0000"/>
              <a:buChar char="🙐"/>
            </a:pPr>
            <a:r>
              <a:rPr lang="ru-RU"/>
              <a:t>Представь, что ты ходишь в буфет.</a:t>
            </a:r>
            <a:endParaRPr/>
          </a:p>
          <a:p>
            <a:pPr indent="-256051" lvl="0" marL="274320" rtl="0" algn="just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Char char="🙐"/>
            </a:pPr>
            <a:r>
              <a:rPr lang="ru-RU"/>
              <a:t>У тебя есть </a:t>
            </a:r>
            <a:r>
              <a:rPr b="1" lang="ru-RU"/>
              <a:t>100 рублей</a:t>
            </a:r>
            <a:r>
              <a:rPr lang="ru-RU"/>
              <a:t> карманных денег в день (это твой «бюджет»).</a:t>
            </a:r>
            <a:endParaRPr/>
          </a:p>
          <a:p>
            <a:pPr indent="-256051" lvl="0" marL="274320" rtl="0" algn="just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Char char="🙐"/>
            </a:pPr>
            <a:r>
              <a:rPr lang="ru-RU"/>
              <a:t>Ты любишь покупать </a:t>
            </a:r>
            <a:r>
              <a:rPr b="1" lang="ru-RU"/>
              <a:t>шоколадку</a:t>
            </a:r>
            <a:r>
              <a:rPr lang="ru-RU"/>
              <a:t> за 50 рублей и </a:t>
            </a:r>
            <a:r>
              <a:rPr b="1" lang="ru-RU"/>
              <a:t>сок</a:t>
            </a:r>
            <a:r>
              <a:rPr lang="ru-RU"/>
              <a:t> за 50 рублей.</a:t>
            </a:r>
            <a:endParaRPr/>
          </a:p>
          <a:p>
            <a:pPr indent="-256051" lvl="0" marL="274320" rtl="0" algn="just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Char char="🙐"/>
            </a:pPr>
            <a:r>
              <a:rPr lang="ru-RU"/>
              <a:t>Вдруг шоколадку подорожала! Теперь она стоит </a:t>
            </a:r>
            <a:r>
              <a:rPr b="1" lang="ru-RU"/>
              <a:t>70 рублей</a:t>
            </a:r>
            <a:r>
              <a:rPr lang="ru-RU"/>
              <a:t>, а сок по-прежнему 50.</a:t>
            </a:r>
            <a:endParaRPr/>
          </a:p>
          <a:p>
            <a:pPr indent="-256051" lvl="0" marL="274320" rtl="0" algn="just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Char char="🙐"/>
            </a:pPr>
            <a:r>
              <a:rPr lang="ru-RU"/>
              <a:t>У тебя есть 100 рублей. Ты очень хочешь шоколадку и сок, но 70 + 50 = 120 рублей. Тебе не хватает 20 рублей!</a:t>
            </a:r>
            <a:endParaRPr/>
          </a:p>
          <a:p>
            <a:pPr indent="-182042" lvl="0" marL="274320" rtl="0" algn="l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ru-RU"/>
              <a:t>Пример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5228016" y="332655"/>
            <a:ext cx="360040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Ты думаешь: «70 рублей за шоколадку — это слишком дорого. А может, купить печеньку за 30 рублей? Она тоже сладкая».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Раньше ты брал шоколадку.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Теперь ты говоришь: «Нет, дорого. Возьму-ка я печенье вместо шоколадки».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Это первая часть уравнения:</a:t>
            </a:r>
            <a:r>
              <a:rPr lang="ru-RU" sz="18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ты просто </a:t>
            </a:r>
            <a:r>
              <a:rPr b="1" lang="ru-RU" sz="18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заменяешь</a:t>
            </a:r>
            <a:r>
              <a:rPr lang="ru-RU" sz="1800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дорогую вещь на похожую, но дешевую.</a:t>
            </a:r>
            <a:endParaRPr/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7128" y="4293096"/>
            <a:ext cx="2815466" cy="2309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395536" y="260648"/>
            <a:ext cx="4382616" cy="460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56051" lvl="0" marL="27432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0000"/>
              <a:buChar char="🙐"/>
            </a:pPr>
            <a:r>
              <a:rPr lang="ru-RU"/>
              <a:t>А теперь представь, что печенья в буфете нет. И сока нет. Есть только шоколадка за 70 рублей и вода за 30 рублей.</a:t>
            </a:r>
            <a:endParaRPr/>
          </a:p>
          <a:p>
            <a:pPr indent="-256051" lvl="0" marL="274320" rtl="0" algn="l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Char char="🙐"/>
            </a:pPr>
            <a:r>
              <a:rPr lang="ru-RU"/>
              <a:t>Ты думаешь: «Раньше у меня 100 рублей — это было много. Я брал шоколадку (50 руб) и сок (50 руб). А сейчас шоколадка 70, вода 30. Воды много не выпьешь... Обидно».</a:t>
            </a:r>
            <a:endParaRPr/>
          </a:p>
          <a:p>
            <a:pPr indent="-256051" lvl="0" marL="274320" rtl="0" algn="l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Char char="🙐"/>
            </a:pPr>
            <a:r>
              <a:rPr b="1" lang="ru-RU"/>
              <a:t>Это вторая часть уравнения:</a:t>
            </a:r>
            <a:r>
              <a:rPr lang="ru-RU"/>
              <a:t> даже если ты купишь шоколадку, у тебя останется всего 30 рублей на всё остальное. Тебе кажется, что ты стал </a:t>
            </a:r>
            <a:r>
              <a:rPr b="1" lang="ru-RU"/>
              <a:t>беднее</a:t>
            </a:r>
            <a:r>
              <a:rPr lang="ru-RU"/>
              <a:t>, потому что твои деньги теперь покупают меньше вкусностей.</a:t>
            </a:r>
            <a:endParaRPr/>
          </a:p>
          <a:p>
            <a:pPr indent="-182042" lvl="0" marL="274320" rtl="0" algn="l">
              <a:spcBef>
                <a:spcPts val="388"/>
              </a:spcBef>
              <a:spcAft>
                <a:spcPts val="0"/>
              </a:spcAft>
              <a:buClr>
                <a:schemeClr val="lt1"/>
              </a:buClr>
              <a:buSzPct val="60000"/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Font typeface="Palatino Linotype"/>
              <a:buNone/>
            </a:pPr>
            <a:r>
              <a:rPr lang="ru-RU"/>
              <a:t>Пример</a:t>
            </a:r>
            <a:endParaRPr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088" y="980728"/>
            <a:ext cx="3176579" cy="352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467544" y="260648"/>
            <a:ext cx="6984776" cy="3967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828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40"/>
              <a:buNone/>
            </a:pPr>
            <a:r>
              <a:rPr lang="ru-RU" sz="4400"/>
              <a:t>Спасибо за внимание! Учите математику!</a:t>
            </a:r>
            <a:endParaRPr sz="4400"/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104" y="3140968"/>
            <a:ext cx="3384376" cy="3380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>
        <p14:vortex dir="r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Базовая">
  <a:themeElements>
    <a:clrScheme name="Базовая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2026-04-21T16:27:12Z</dcterms:created>
  <dc:creator>Ирина</dc:creator>
</cp:coreProperties>
</file>